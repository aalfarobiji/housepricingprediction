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A3B8F">
              <a:alpha val="50000"/>
            </a:srgbClr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2A3B8F">
              <a:alpha val="50000"/>
            </a:srgbClr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73152" cy="2286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 PRICE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MODEL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&amp; Rekomendasi Model Machine Learning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·  Random Forest  ·  XGBoost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House Price Prediction V2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841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0241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tujuan, dan konteks bisnis proyek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642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Workflow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8470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end-to-end dari raw data hingga model siap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87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26700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target, korelasi fitur, dan temuan kunci EDA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101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34930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&amp; pembuatan 5 fitur baru dari data mentah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413308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330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4133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&amp; Evaluasi – 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4315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RMSE, MAE, R², dan MAPE di data test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84124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841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841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Evaluasi – Cross 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10241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Stabilitas model via 5-Fold CV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66420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642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vs CV – Insight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21808" y="18470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perspektif &amp; interpretasi hasil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48716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87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Rekomendasi &amp; Plus/Minus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21808" y="26700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model terbaik beserta kelebihan &amp; kekurangan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31012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3101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34930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paling berpengaruh terhadap harga rumah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4133088"/>
            <a:ext cx="47548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1330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4133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Kesimpulan &amp; Implikasi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21808" y="4315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bisnis berbasis hasil pemodelan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657600" cy="36576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1463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House Prices (Ames, Iowa)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901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1.460 baris · 81 kolom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408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2340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(harga jual rumah)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7797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untuk stabilisasi varians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2186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(random_state=42)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Num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3657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imputer + StandardScaler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0965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4096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imputer + OneHotEncoder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868680"/>
            <a:ext cx="4206240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Tujuan Proyek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1325880"/>
            <a:ext cx="38404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58191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508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prediksi harga rumah yang akurat sebagai dasar valuasi properti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33172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2585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performa 3 algoritma: Linear Regression, Random Forest, dan XGBoost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8152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0083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model dari sisi akurasi (Test) dan stabilitas generalisasi (Cross Validation)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83133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7581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rekomendasi model yang paling siap untuk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end-to-end dari raw data hingga model siap digunakan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554480" cy="384048"/>
          </a:xfrm>
          <a:prstGeom prst="rect">
            <a:avLst/>
          </a:prstGeom>
          <a:solidFill>
            <a:srgbClr val="3B5FBE"/>
          </a:solidFill>
          <a:ln w="12700">
            <a:solidFill>
              <a:srgbClr val="3B5F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338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33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Library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96596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 · sklearn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matplotlib · seaborn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1874520"/>
            <a:ext cx="164592" cy="5486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1837944"/>
            <a:ext cx="54864" cy="16459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07899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078992"/>
            <a:ext cx="1554480" cy="384048"/>
          </a:xfrm>
          <a:prstGeom prst="rect">
            <a:avLst/>
          </a:prstGeom>
          <a:solidFill>
            <a:srgbClr val="2A8C70"/>
          </a:solidFill>
          <a:ln w="12700">
            <a:solidFill>
              <a:srgbClr val="2A8C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1338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133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84832" y="196596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SalePrice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&amp; missing values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66160" y="1874520"/>
            <a:ext cx="164592" cy="5486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85032" y="1837944"/>
            <a:ext cx="54864" cy="16459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07899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078992"/>
            <a:ext cx="1554480" cy="384048"/>
          </a:xfrm>
          <a:prstGeom prst="rect">
            <a:avLst/>
          </a:prstGeom>
          <a:solidFill>
            <a:srgbClr val="C96A10"/>
          </a:solidFill>
          <a:ln w="12700">
            <a:solidFill>
              <a:srgbClr val="C96A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11338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1133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9476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22192" y="196596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Imputer · Scaler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· Pipeline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03520" y="1874520"/>
            <a:ext cx="164592" cy="5486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22392" y="1837944"/>
            <a:ext cx="54864" cy="16459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107899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1078992"/>
            <a:ext cx="1554480" cy="384048"/>
          </a:xfrm>
          <a:prstGeom prst="rect">
            <a:avLst/>
          </a:prstGeom>
          <a:solidFill>
            <a:srgbClr val="7B3BB5"/>
          </a:solidFill>
          <a:ln w="12700">
            <a:solidFill>
              <a:srgbClr val="7B3B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11338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133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59552" y="196596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TotalSF · HouseAge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TotalBath · BedroomRatio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40880" y="1874520"/>
            <a:ext cx="164592" cy="5486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59752" y="1837944"/>
            <a:ext cx="54864" cy="16459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107899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23760" y="1078992"/>
            <a:ext cx="1554480" cy="384048"/>
          </a:xfrm>
          <a:prstGeom prst="rect">
            <a:avLst/>
          </a:prstGeom>
          <a:solidFill>
            <a:srgbClr val="2273A8"/>
          </a:solidFill>
          <a:ln w="12700">
            <a:solidFill>
              <a:srgbClr val="2273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11338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1133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6948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96912" y="196596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XGBoost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295351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2953512"/>
            <a:ext cx="1554480" cy="384048"/>
          </a:xfrm>
          <a:prstGeom prst="rect">
            <a:avLst/>
          </a:prstGeom>
          <a:solidFill>
            <a:srgbClr val="9B2828"/>
          </a:solidFill>
          <a:ln w="12700">
            <a:solidFill>
              <a:srgbClr val="9B28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300837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" y="3355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Tuning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47472" y="38404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5-Fold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RF &amp; XGB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828800" y="3749040"/>
            <a:ext cx="164592" cy="5486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47672" y="3712464"/>
            <a:ext cx="54864" cy="16459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11680" y="295351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011680" y="2953512"/>
            <a:ext cx="1554480" cy="384048"/>
          </a:xfrm>
          <a:prstGeom prst="rect">
            <a:avLst/>
          </a:prstGeom>
          <a:solidFill>
            <a:srgbClr val="2A6E2A"/>
          </a:solidFill>
          <a:ln w="12700">
            <a:solidFill>
              <a:srgbClr val="2A6E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03120" y="300837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312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057400" y="3355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084832" y="38404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MAE · R²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· Train/Test Gap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66160" y="3749040"/>
            <a:ext cx="164592" cy="5486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85032" y="3712464"/>
            <a:ext cx="54864" cy="16459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0" y="295351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749040" y="2953512"/>
            <a:ext cx="1554480" cy="384048"/>
          </a:xfrm>
          <a:prstGeom prst="rect">
            <a:avLst/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840480" y="300837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794760" y="3355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Validation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822192" y="38404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per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 &amp; Std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303520" y="3749040"/>
            <a:ext cx="164592" cy="5486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22392" y="3712464"/>
            <a:ext cx="54864" cy="16459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86400" y="295351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486400" y="2953512"/>
            <a:ext cx="1554480" cy="384048"/>
          </a:xfrm>
          <a:prstGeom prst="rect">
            <a:avLst/>
          </a:prstGeom>
          <a:solidFill>
            <a:srgbClr val="1E5C5C"/>
          </a:solidFill>
          <a:ln w="12700">
            <a:solidFill>
              <a:srgbClr val="1E5C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77840" y="300837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532120" y="3355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559552" y="38404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fitur dari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040880" y="3749040"/>
            <a:ext cx="164592" cy="5486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59752" y="3712464"/>
            <a:ext cx="54864" cy="16459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23760" y="2953512"/>
            <a:ext cx="1554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223760" y="2953512"/>
            <a:ext cx="15544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15200" y="300837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1520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269480" y="3355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Rekomendasi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296912" y="38404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model terbaik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production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617720" y="2697480"/>
            <a:ext cx="36576" cy="29260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320" y="2990088"/>
            <a:ext cx="4416552" cy="36576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2944368"/>
            <a:ext cx="36576" cy="82296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utama sebelum proses pemodelan — 1.460 properti · 81 fitur · Ames, Iowa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60520" cy="32918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69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Distribusi SalePrice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92147"/>
            <a:ext cx="438912" cy="148133"/>
          </a:xfrm>
          <a:prstGeom prst="rect">
            <a:avLst/>
          </a:prstGeom>
          <a:solidFill>
            <a:srgbClr val="B8C8F0"/>
          </a:solidFill>
          <a:ln w="12700">
            <a:solidFill>
              <a:srgbClr val="B8C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2860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&lt;100K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960120" y="1787652"/>
            <a:ext cx="438912" cy="452628"/>
          </a:xfrm>
          <a:prstGeom prst="rect">
            <a:avLst/>
          </a:prstGeom>
          <a:solidFill>
            <a:srgbClr val="B8C8F0"/>
          </a:solidFill>
          <a:ln w="12700">
            <a:solidFill>
              <a:srgbClr val="B8C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2860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100-150K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463040" y="1417320"/>
            <a:ext cx="43891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22860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150-200K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965960" y="1565453"/>
            <a:ext cx="438912" cy="674827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92808" y="22860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200-250K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468880" y="1869948"/>
            <a:ext cx="438912" cy="37033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22860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250-300K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971800" y="2009851"/>
            <a:ext cx="438912" cy="230429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98648" y="22860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300-400K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474720" y="2157984"/>
            <a:ext cx="438912" cy="82296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2860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&gt;400K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Puncak distribusi di 150-200K · Right-skewed → log-transform diperlukan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051560"/>
            <a:ext cx="41605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51560"/>
            <a:ext cx="4160520" cy="329184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069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Korelasi Fitur vs SalePrice (Top 7)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89320" y="1490472"/>
            <a:ext cx="1805940" cy="128016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098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TotalSF *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89320" y="1691640"/>
            <a:ext cx="1760220" cy="128016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5260" y="16642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0600" y="18653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GrLivArea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89320" y="1892808"/>
            <a:ext cx="1623060" cy="128016"/>
          </a:xfrm>
          <a:prstGeom prst="rect">
            <a:avLst/>
          </a:prstGeom>
          <a:solidFill>
            <a:srgbClr val="2A6EA8"/>
          </a:solidFill>
          <a:ln w="12700">
            <a:solidFill>
              <a:srgbClr val="2A6E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58100" y="18653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0600" y="20665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GarageCars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89320" y="2093976"/>
            <a:ext cx="1463040" cy="128016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066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7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0600" y="2267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GarageArea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89320" y="2295144"/>
            <a:ext cx="1417320" cy="128016"/>
          </a:xfrm>
          <a:prstGeom prst="rect">
            <a:avLst/>
          </a:prstGeom>
          <a:solidFill>
            <a:srgbClr val="4A8CD8"/>
          </a:solidFill>
          <a:ln w="12700">
            <a:solidFill>
              <a:srgbClr val="4A8C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8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0600" y="2468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TotalBath *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89320" y="2496312"/>
            <a:ext cx="1303020" cy="128016"/>
          </a:xfrm>
          <a:prstGeom prst="rect">
            <a:avLst/>
          </a:prstGeom>
          <a:solidFill>
            <a:srgbClr val="5A9CE0"/>
          </a:solidFill>
          <a:ln w="12700">
            <a:solidFill>
              <a:srgbClr val="5A9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8060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2670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HouseAge *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989320" y="2697480"/>
            <a:ext cx="1188720" cy="128016"/>
          </a:xfrm>
          <a:prstGeom prst="rect">
            <a:avLst/>
          </a:prstGeom>
          <a:solidFill>
            <a:srgbClr val="C8502A"/>
          </a:solidFill>
          <a:ln w="12700">
            <a:solidFill>
              <a:srgbClr val="C850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2670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0600" y="2542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Fitur hasil rekayasa (feature engineering)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063240"/>
            <a:ext cx="256032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3063240"/>
            <a:ext cx="2560320" cy="310896"/>
          </a:xfrm>
          <a:prstGeom prst="rect">
            <a:avLst/>
          </a:prstGeom>
          <a:solidFill>
            <a:srgbClr val="7B3BB5"/>
          </a:solidFill>
          <a:ln w="12700">
            <a:solidFill>
              <a:srgbClr val="7B3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" y="3081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Missing Values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84048" y="3447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PoolQC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91640" y="3483864"/>
            <a:ext cx="914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1640" y="3483864"/>
            <a:ext cx="909828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33472" y="344728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84048" y="36941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MiscFeature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91640" y="3730752"/>
            <a:ext cx="914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91640" y="3730752"/>
            <a:ext cx="880567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33472" y="369417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84048" y="39410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691640" y="3977640"/>
            <a:ext cx="914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91640" y="3977640"/>
            <a:ext cx="857707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33472" y="394106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84048" y="41879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691640" y="4224528"/>
            <a:ext cx="914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91640" y="4224528"/>
            <a:ext cx="738835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33472" y="41879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84048" y="4434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LotFrontage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691640" y="4471416"/>
            <a:ext cx="914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91640" y="4471416"/>
            <a:ext cx="161849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33472" y="44348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47472" y="46817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Ditangani dengan strategi imputer berbeda (median / constant)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017520" y="3063240"/>
            <a:ext cx="274320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017520" y="3063240"/>
            <a:ext cx="2743200" cy="310896"/>
          </a:xfrm>
          <a:prstGeom prst="rect">
            <a:avLst/>
          </a:prstGeom>
          <a:solidFill>
            <a:srgbClr val="2A8C70"/>
          </a:solidFill>
          <a:ln w="12700">
            <a:solidFill>
              <a:srgbClr val="2A8C7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45536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Statistik Harga Jual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090672" y="3465576"/>
            <a:ext cx="1325880" cy="201168"/>
          </a:xfrm>
          <a:prstGeom prst="rect">
            <a:avLst/>
          </a:prstGeom>
          <a:solidFill>
            <a:srgbClr val="F4F7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4655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434840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$180,921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090672" y="3712464"/>
            <a:ext cx="1325880" cy="201168"/>
          </a:xfrm>
          <a:prstGeom prst="rect">
            <a:avLst/>
          </a:prstGeom>
          <a:solidFill>
            <a:srgbClr val="F4F7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45536" y="3712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434840" y="36941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$163,000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090672" y="3959352"/>
            <a:ext cx="1325880" cy="201168"/>
          </a:xfrm>
          <a:prstGeom prst="rect">
            <a:avLst/>
          </a:prstGeom>
          <a:solidFill>
            <a:srgbClr val="F4F7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45536" y="3959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434840" y="39410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$34,900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090672" y="4206240"/>
            <a:ext cx="1325880" cy="201168"/>
          </a:xfrm>
          <a:prstGeom prst="rect">
            <a:avLst/>
          </a:prstGeom>
          <a:solidFill>
            <a:srgbClr val="F4F7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45536" y="4206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4434840" y="41879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$755,000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090672" y="4453128"/>
            <a:ext cx="1325880" cy="201168"/>
          </a:xfrm>
          <a:prstGeom prst="rect">
            <a:avLst/>
          </a:prstGeom>
          <a:solidFill>
            <a:srgbClr val="F4F7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45536" y="4453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434840" y="4434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$79,442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943600" y="3063240"/>
            <a:ext cx="292608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5943600" y="3063240"/>
            <a:ext cx="292608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53328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Insight Kunci EDA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053328" y="34472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SalePrice right-skewed → log-transform efektif menstabilkan distribusi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053328" y="3776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Kualitas keseluruhan (OverallQual) adalah prediktor terkuat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053328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Luas bangunan (TotalSF) dari feature engineering masuk top-2 korelasi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053328" y="4434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Banyak fitur kategorikal bernilai NA yang bermakna 'tidak ada'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052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TotalSF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4416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TotalBsmtSF + 1stFlrSF + 2ndFlrSF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luas bangunan keseluruhan – faktor utama harga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052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34416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44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YrSold − YearBuilt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7647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rumah saat dijual – semakin tua, potensi harga lebih rendah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6868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052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RemodAge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34416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44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YrSold − YearRemodAdd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26480" y="17647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sejak renovasi terakhir – rumah yang baru direnovasi bernilai lebih tinggi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83080" y="283464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783080" y="283464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28712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TotalBath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74520" y="331012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FullBath + 0.5×HalfBath + BsmtFullBath + 0.5×BsmtHalfBath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74520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Gabungan semua kamar mandi (full = 1, half = 0.5)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83464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83464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8712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BedroomRatio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331012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BedroomAbvGr ÷ (TotRmsAbvGrd + 1)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9160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kamar tidur terhadap total ruangan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fitur baru dibuat untuk memperkaya representasi properti dan meningkatkan akurasi prediksi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EVALUASI – TEST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dilakukan pada data test (20%) dalam skala harga asli (USD)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10312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10515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41732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51176" y="1051560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051560"/>
            <a:ext cx="128016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105156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051560"/>
            <a:ext cx="91440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1536" y="105156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051560"/>
            <a:ext cx="118872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0515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1051560"/>
            <a:ext cx="114300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105156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Train/Test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490472"/>
            <a:ext cx="210312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490472"/>
            <a:ext cx="141732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1490472"/>
            <a:ext cx="128016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490472"/>
            <a:ext cx="91440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490472"/>
            <a:ext cx="118872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1490472"/>
            <a:ext cx="114300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153619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9464" y="153619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23,224 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78224" y="153619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9824" y="153619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0.9297 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55664" y="15361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35824" y="153619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2.82% 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1563624"/>
            <a:ext cx="45720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8824" y="15636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2057400"/>
            <a:ext cx="210312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14600" y="2057400"/>
            <a:ext cx="141732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2057400"/>
            <a:ext cx="128016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960" y="2057400"/>
            <a:ext cx="91440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057400"/>
            <a:ext cx="118872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2057400"/>
            <a:ext cx="114300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21031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69464" y="21031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27,185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78224" y="21031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15,822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9824" y="21031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55664" y="21031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9.14%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35824" y="210312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4.45%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" y="262432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4600" y="2624328"/>
            <a:ext cx="1417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23360" y="2624328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94960" y="2624328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262432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80960" y="2624328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" y="26700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69464" y="267004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30,524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078224" y="267004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17,306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49824" y="267004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0.8785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55664" y="267004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10.12%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735824" y="2670048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6.61% ✗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20040" y="3794760"/>
            <a:ext cx="8503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029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Key Insight: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2920" y="41605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pPr indent="0" marL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unggul di semua Test Metrics — RMSE terendah (23,224), R² tertinggi (0.9297), dan gap train/test paling kecil (2.82%). </a:t>
            </a:r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pPr indent="0" marL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posisi kedua, sementara </a:t>
            </a:r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pPr indent="0" marL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menunjukkan tanda overfitting dengan gap tertinggi (6.61%).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EVALUASI – CROSS VALIDATION (5-Fold)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dihitung dalam skala log-transformed target — semakin kecil semakin baik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6974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1st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423160" cy="64008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04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0.1269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242316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Std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0.0122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" y="3547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terbaik &amp; std sangat kecil → generalisasi paling konsisten di CV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64408" y="107899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078992"/>
            <a:ext cx="26974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097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2nd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64408" y="1965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1568" y="2286000"/>
            <a:ext cx="2423160" cy="64008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304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47288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0.1417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401568" y="2999232"/>
            <a:ext cx="242316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017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Std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47288" y="3200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0.0190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74136" y="3547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menengah, std lebih tinggi → kurang stabil antar fold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08776" y="107899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8776" y="1078992"/>
            <a:ext cx="269748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1097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3rd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08776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08776" y="1965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45936" y="2286000"/>
            <a:ext cx="2423160" cy="64008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2304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91656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0.1589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6345936" y="2999232"/>
            <a:ext cx="242316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3017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Std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91656" y="3200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0.0119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18504" y="3547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tertinggi, meski std kecil → kurang mampu menangkap pola non-linear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Dari perspektif CV: XGBoost unggul sebagai model paling generalisasi baik. Namun CV menggunakan skala log, bukan harga asli — perlu diinterpretasi bersamaan dengan Test Metrics.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METRICS vs CROSS VALIDATION – PERBANDINGAN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19456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4124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78608" y="841248"/>
            <a:ext cx="137160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8412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05072" y="841248"/>
            <a:ext cx="100584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2504" y="841248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65776" y="841248"/>
            <a:ext cx="141732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3208" y="841248"/>
            <a:ext cx="1362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scale)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37960" y="841248"/>
            <a:ext cx="105156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841248"/>
            <a:ext cx="996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Std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44384" y="841248"/>
            <a:ext cx="1179576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71816" y="841248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Test / CV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371600"/>
            <a:ext cx="219456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1371600"/>
            <a:ext cx="137160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5072" y="1371600"/>
            <a:ext cx="100584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65776" y="1371600"/>
            <a:ext cx="141732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1371600"/>
            <a:ext cx="105156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44384" y="1371600"/>
            <a:ext cx="1179576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138988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15184" y="138988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23,224 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41648" y="13898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0.9297 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02352" y="1389888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0.1589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74536" y="1389888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138988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Test / #3 CV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1847088"/>
            <a:ext cx="219456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8608" y="1847088"/>
            <a:ext cx="137160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5072" y="1847088"/>
            <a:ext cx="100584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65776" y="1847088"/>
            <a:ext cx="141732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1847088"/>
            <a:ext cx="105156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44384" y="1847088"/>
            <a:ext cx="1179576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" y="186537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15184" y="186537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27,185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41648" y="186537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1865376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0.1269 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74536" y="1865376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0.0122 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1865376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Test / #1 CV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322576"/>
            <a:ext cx="2194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78608" y="2322576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05072" y="2322576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65776" y="2322576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7960" y="2322576"/>
            <a:ext cx="1051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44384" y="2322576"/>
            <a:ext cx="117957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234086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615184" y="234086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30,524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41648" y="234086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0.8785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02352" y="2340864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0.1417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74536" y="2340864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80960" y="2340864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Test / #2 CV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2798064"/>
            <a:ext cx="269748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11480" y="28712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Mengapa hasilnya berbeda?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29768" y="3273552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CV menggunakan skala log-transformed (log1p)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9768" y="3666744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 Metrics dikonversi ke harga asli (expm1)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9768" y="40599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XGBoost lebih baik dalam log scale, LR lebih baik di harga asli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9768" y="4453128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Ini bukan kontradiksi — keduanya mengukur aspek berbeda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64408" y="2798064"/>
            <a:ext cx="2697480" cy="2103120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355848" y="28712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Kapan pakai CV?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374136" y="3273552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CV cocok untuk seleksi model secara statistik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374136" y="3666744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Memberikan gambaran generalisasi di data baru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74136" y="40599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Berguna saat dataset kecil (mengurangi ketergantungan split)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74136" y="4453128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Representasi lebih robust karena menggunakan semua data train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08776" y="2798064"/>
            <a:ext cx="2697480" cy="210312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300216" y="28712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Kapan pakai Test Metrics?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318504" y="3273552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 Metrics mencerminkan performa pada harga nyata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18504" y="3666744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Lebih relevan untuk business use case (valuasi properti)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18504" y="40599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Mudah diinterpretasi oleh stakeholder non-teknis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318504" y="4453128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Menjadi dasar final recommendation ke klien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REKOMENDASI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778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REKOMENDASI UTAMA: Linear 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Terbaik untuk produksi — akurasi tertinggi di data test nyata (RMSE 23,224 | R² 0.93 | Gap hanya 2.82%) dengan interpretabilitas tinggi untuk bisnis properti.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850392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0253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🥈  ALTERNATIF: XGBoost (Tuned)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2257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Terbaik dalam CV (RMSE log 0.1269) dan sudah cukup stabil (gap 4.45%). Cocok jika data bertambah atau pola menjadi lebih kompleks.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852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Perbandingan Plus &amp; Minus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182112"/>
            <a:ext cx="269748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483864"/>
            <a:ext cx="2697480" cy="182880"/>
          </a:xfrm>
          <a:prstGeom prst="rect">
            <a:avLst/>
          </a:prstGeom>
          <a:solidFill>
            <a:srgbClr val="E8F8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4930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KELEBIHAN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3192" y="3685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RMSE &amp; R² terbaik di test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93192" y="38862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Paling stabil (gap 2.82%)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93192" y="408736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Mudah diinterpretasi klien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93192" y="42885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Inference cepat &amp; ringan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4498848"/>
            <a:ext cx="2697480" cy="182880"/>
          </a:xfrm>
          <a:prstGeom prst="rect">
            <a:avLst/>
          </a:prstGeom>
          <a:solidFill>
            <a:srgbClr val="FE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45079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KEKURANGAN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3192" y="47000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Asumsi linearitas bisa dilanggar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93192" y="490118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Kurang fleksibel untuk pola kompleks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93192" y="51023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CV RMSE paling rendah di ranking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64408" y="3182112"/>
            <a:ext cx="269748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3483864"/>
            <a:ext cx="2697480" cy="182880"/>
          </a:xfrm>
          <a:prstGeom prst="rect">
            <a:avLst/>
          </a:prstGeom>
          <a:solidFill>
            <a:srgbClr val="E8F8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4930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KELEBIHAN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37560" y="3685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CV RMSE terbaik (generalisasi kuat)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37560" y="38862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Mampu tangkap pola non-linear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37560" y="408736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Setelah tuning, gap turun → 4.45%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64408" y="4297680"/>
            <a:ext cx="2697480" cy="182880"/>
          </a:xfrm>
          <a:prstGeom prst="rect">
            <a:avLst/>
          </a:prstGeom>
          <a:solidFill>
            <a:srgbClr val="FE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3068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KEKURANGAN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37560" y="44988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Test RMSE lebih tinggi dari LR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37560" y="47000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Lebih lambat saat inference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37560" y="490118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Risiko overfitting jika tidak dimonitor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08776" y="3182112"/>
            <a:ext cx="26974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08776" y="3483864"/>
            <a:ext cx="2697480" cy="182880"/>
          </a:xfrm>
          <a:prstGeom prst="rect">
            <a:avLst/>
          </a:prstGeom>
          <a:solidFill>
            <a:srgbClr val="E8F8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34930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KELEBIHAN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81928" y="3685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 terhadap outlier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81928" y="38862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Tidak perlu normalisasi fitur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208776" y="4096512"/>
            <a:ext cx="2697480" cy="182880"/>
          </a:xfrm>
          <a:prstGeom prst="rect">
            <a:avLst/>
          </a:prstGeom>
          <a:solidFill>
            <a:srgbClr val="FE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41056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KEKURANGAN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81928" y="429768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Test RMSE tertinggi (30,524)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81928" y="44988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Overfitting gap besar (6.61%)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81928" y="47000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CV std paling tinggi (0.019)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81928" y="490118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Tidak direkomendasikan produksi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Random Forest — faktor-faktor yang paling berpengaruh terhadap harga jual rumah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76272" y="1133856"/>
            <a:ext cx="658368" cy="201168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1338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926080" y="1170432"/>
            <a:ext cx="3840480" cy="164592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115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113385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kualitas material &amp; finishing keseluruhan rumah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1435608"/>
            <a:ext cx="8595360" cy="320040"/>
          </a:xfrm>
          <a:prstGeom prst="rect">
            <a:avLst/>
          </a:prstGeom>
          <a:solidFill>
            <a:srgbClr val="EFF4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721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14721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TotalSF ★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490472"/>
            <a:ext cx="658368" cy="201168"/>
          </a:xfrm>
          <a:prstGeom prst="rect">
            <a:avLst/>
          </a:prstGeom>
          <a:solidFill>
            <a:srgbClr val="2A8C70"/>
          </a:solidFill>
          <a:ln w="12700">
            <a:solidFill>
              <a:srgbClr val="2A8C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14904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926080" y="1527048"/>
            <a:ext cx="3399344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8576" y="1472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0" y="14904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luas bangunan (basement + lantai 1 &amp; 2) — fitur rekayasa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1792224"/>
            <a:ext cx="85953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8288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GrLivArea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76272" y="1847088"/>
            <a:ext cx="658368" cy="201168"/>
          </a:xfrm>
          <a:prstGeom prst="rect">
            <a:avLst/>
          </a:prstGeom>
          <a:solidFill>
            <a:srgbClr val="2A8C70"/>
          </a:solidFill>
          <a:ln w="12700">
            <a:solidFill>
              <a:srgbClr val="2A8C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18470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926080" y="1883664"/>
            <a:ext cx="2543021" cy="164592"/>
          </a:xfrm>
          <a:prstGeom prst="rect">
            <a:avLst/>
          </a:prstGeom>
          <a:solidFill>
            <a:srgbClr val="2A8C70"/>
          </a:solidFill>
          <a:ln w="12700">
            <a:solidFill>
              <a:srgbClr val="2A8C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2253" y="1828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18470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 area hunian di atas permukaan tanah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148840"/>
            <a:ext cx="8595360" cy="320040"/>
          </a:xfrm>
          <a:prstGeom prst="rect">
            <a:avLst/>
          </a:prstGeom>
          <a:solidFill>
            <a:srgbClr val="EFF4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1854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21854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HouseAge 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76272" y="2203704"/>
            <a:ext cx="658368" cy="201168"/>
          </a:xfrm>
          <a:prstGeom prst="rect">
            <a:avLst/>
          </a:prstGeom>
          <a:solidFill>
            <a:srgbClr val="7B3BB5"/>
          </a:solidFill>
          <a:ln w="12700">
            <a:solidFill>
              <a:srgbClr val="7B3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6272" y="22037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926080" y="2240280"/>
            <a:ext cx="1738596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7828" y="21854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0" y="22037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rumah saat dijual — fitur rekayasa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2505456"/>
            <a:ext cx="85953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542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RemodAge ★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76272" y="2560320"/>
            <a:ext cx="658368" cy="201168"/>
          </a:xfrm>
          <a:prstGeom prst="rect">
            <a:avLst/>
          </a:prstGeom>
          <a:solidFill>
            <a:srgbClr val="C96A10"/>
          </a:solidFill>
          <a:ln w="12700">
            <a:solidFill>
              <a:srgbClr val="C96A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76272" y="25603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Renovasi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926080" y="2596896"/>
            <a:ext cx="153100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30234" y="25420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25603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sejak renovasi terakhir — fitur rekayasa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2862072"/>
            <a:ext cx="8595360" cy="320040"/>
          </a:xfrm>
          <a:prstGeom prst="rect">
            <a:avLst/>
          </a:prstGeom>
          <a:solidFill>
            <a:srgbClr val="EFF4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8986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" y="2898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GarageCars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76272" y="2916936"/>
            <a:ext cx="658368" cy="201168"/>
          </a:xfrm>
          <a:prstGeom prst="rect">
            <a:avLst/>
          </a:prstGeom>
          <a:solidFill>
            <a:srgbClr val="9B2828"/>
          </a:solidFill>
          <a:ln w="12700">
            <a:solidFill>
              <a:srgbClr val="9B28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29169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Garasi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926080" y="2953512"/>
            <a:ext cx="1349358" cy="164592"/>
          </a:xfrm>
          <a:prstGeom prst="rect">
            <a:avLst/>
          </a:prstGeom>
          <a:solidFill>
            <a:srgbClr val="9B2828"/>
          </a:solidFill>
          <a:ln w="12700">
            <a:solidFill>
              <a:srgbClr val="9B28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8590" y="2898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32320" y="2916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garasi (jumlah kendaraan)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3218688"/>
            <a:ext cx="85953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25526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5800" y="3255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TotalBath ★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176272" y="3273552"/>
            <a:ext cx="658368" cy="201168"/>
          </a:xfrm>
          <a:prstGeom prst="rect">
            <a:avLst/>
          </a:prstGeom>
          <a:solidFill>
            <a:srgbClr val="2273A8"/>
          </a:solidFill>
          <a:ln w="12700">
            <a:solidFill>
              <a:srgbClr val="2273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76272" y="3273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926080" y="3310128"/>
            <a:ext cx="1245561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44793" y="32552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13232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kamar mandi (full + half, atas &amp; bawah) — fitur rekayasa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575304"/>
            <a:ext cx="8595360" cy="320040"/>
          </a:xfrm>
          <a:prstGeom prst="rect">
            <a:avLst/>
          </a:prstGeom>
          <a:solidFill>
            <a:srgbClr val="EFF4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6118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5800" y="3611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GarageArea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176272" y="3630168"/>
            <a:ext cx="658368" cy="201168"/>
          </a:xfrm>
          <a:prstGeom prst="rect">
            <a:avLst/>
          </a:prstGeom>
          <a:solidFill>
            <a:srgbClr val="9B2828"/>
          </a:solidFill>
          <a:ln w="12700">
            <a:solidFill>
              <a:srgbClr val="9B28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76272" y="36301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Garasi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926080" y="3666744"/>
            <a:ext cx="1063917" cy="164592"/>
          </a:xfrm>
          <a:prstGeom prst="rect">
            <a:avLst/>
          </a:prstGeom>
          <a:solidFill>
            <a:srgbClr val="9B2828"/>
          </a:solidFill>
          <a:ln w="12700">
            <a:solidFill>
              <a:srgbClr val="9B282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63149" y="3611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132320" y="36301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 total area garasi (sq ft)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74320" y="3931920"/>
            <a:ext cx="85953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39684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5800" y="39684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LotArea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176272" y="3986784"/>
            <a:ext cx="658368" cy="201168"/>
          </a:xfrm>
          <a:prstGeom prst="rect">
            <a:avLst/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176272" y="39867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Lahan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926080" y="4023360"/>
            <a:ext cx="908222" cy="164592"/>
          </a:xfrm>
          <a:prstGeom prst="rect">
            <a:avLst/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07454" y="3968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132320" y="39867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 total lahan / kavling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74320" y="4288536"/>
            <a:ext cx="8595360" cy="320040"/>
          </a:xfrm>
          <a:prstGeom prst="rect">
            <a:avLst/>
          </a:prstGeom>
          <a:solidFill>
            <a:srgbClr val="EFF4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43251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85800" y="4325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YearRemodAdd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176272" y="4343400"/>
            <a:ext cx="658368" cy="201168"/>
          </a:xfrm>
          <a:prstGeom prst="rect">
            <a:avLst/>
          </a:prstGeom>
          <a:solidFill>
            <a:srgbClr val="C96A10"/>
          </a:solidFill>
          <a:ln w="12700">
            <a:solidFill>
              <a:srgbClr val="C96A1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176272" y="4343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Renovasi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926080" y="4379976"/>
            <a:ext cx="752526" cy="164592"/>
          </a:xfrm>
          <a:prstGeom prst="rect">
            <a:avLst/>
          </a:prstGeom>
          <a:solidFill>
            <a:srgbClr val="C96A10"/>
          </a:solidFill>
          <a:ln w="12700">
            <a:solidFill>
              <a:srgbClr val="C96A1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51758" y="4325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132320" y="4343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renovasi atau penambahan terakhir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" y="4700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Fitur hasil Feature Engineering  ·  </a:t>
            </a:r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dari 10 fitur teratas adalah fitur yang direkayasa secara manual — membuktikan bahwa feature engineering memberikan kontribusi signifikan terhadap prediksi harga.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A3B8F">
              <a:alpha val="50000"/>
            </a:srgbClr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2A3B8F">
              <a:alpha val="50000"/>
            </a:srgbClr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KESIMPULAN &amp; IMPLIKASI BISNIS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4041648"/>
          </a:xfrm>
          <a:prstGeom prst="rect">
            <a:avLst/>
          </a:prstGeom>
          <a:solidFill>
            <a:srgbClr val="16204F"/>
          </a:solidFill>
          <a:ln w="12700">
            <a:solidFill>
              <a:srgbClr val="1620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7955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Rekomendasi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2070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Linear Regression — Gunakan Sekarang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150876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harga dalam skala USD paling akurat. Error rata-rata (MAE) hanya $15.104 per properti — margin yang dapat diterima untuk keperluan estimasi valuasi.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23774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XGBoost — Siapkan Sebagai Backup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267919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dataset terus bertambah atau profil properti menjadi lebih beragam, XGBoost lebih mampu menangkap pola non-linear dan terbukti stabil secara CV.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3547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Random Forest — Tunda Penggunaan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" y="3849624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train/test 6.6% menandakan model terlalu 'hafal' data latih. Perlu regularisasi lebih lanjut sebelum bisa dipercaya di data baru.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4114800" cy="4041648"/>
          </a:xfrm>
          <a:prstGeom prst="rect">
            <a:avLst/>
          </a:prstGeom>
          <a:solidFill>
            <a:srgbClr val="16204F"/>
          </a:solidFill>
          <a:ln w="12700">
            <a:solidFill>
              <a:srgbClr val="1620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7955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Implikasi untuk Bisnis Properti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12070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Valuasi Properti Lebih Cepat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12080" y="147218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dapat menghasilkan estimasi harga otomatis berdasarkan spesifikasi rumah — mengurangi ketergantungan pada appraisal manual yang memakan waktu.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214884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21214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Faktor Penentu Harga Jelas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0" y="238658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bangunan (OverallQual) dan total luas (TotalSF) adalah dua pendorong utama harga. Ini bisa menjadi panduan bagi pengembang dalam menentukan prioritas pembangunan.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306324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0358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Dasar Penetapan Harga Listing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0" y="330098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 properti dapat menggunakan output model sebagai referensi harga wajar sebelum menentukan harga listing, mengurangi risiko overpricing atau underpricing.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97764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9502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 Selanjutnya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421538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data historis transaksi terbaru, integrasikan faktor eksternal (lokasi, akses transportasi), dan monitor performa model secara berkala terhadap data pasar.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37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House Price Prediction V2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- Model Comparison</dc:title>
  <dc:subject>PptxGenJS Presentation</dc:subject>
  <dc:creator>PptxGenJS</dc:creator>
  <cp:lastModifiedBy>PptxGenJS</cp:lastModifiedBy>
  <cp:revision>1</cp:revision>
  <dcterms:created xsi:type="dcterms:W3CDTF">2026-05-03T07:23:04Z</dcterms:created>
  <dcterms:modified xsi:type="dcterms:W3CDTF">2026-05-03T07:23:04Z</dcterms:modified>
</cp:coreProperties>
</file>