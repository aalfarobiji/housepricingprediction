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28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6234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2A3B8F">
              <a:alpha val="50000"/>
            </a:srgbClr>
          </a:solidFill>
          <a:ln w="12700">
            <a:solidFill>
              <a:srgbClr val="2A3B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-1371600" y="2743200"/>
            <a:ext cx="3200400" cy="3200400"/>
          </a:xfrm>
          <a:prstGeom prst="ellipse">
            <a:avLst/>
          </a:prstGeom>
          <a:solidFill>
            <a:srgbClr val="2A3B8F">
              <a:alpha val="50000"/>
            </a:srgbClr>
          </a:solidFill>
          <a:ln w="12700">
            <a:solidFill>
              <a:srgbClr val="2A3B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73152" cy="2286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685800" y="12801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HOUSE PRICE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4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 MODEL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&amp; Rekomendasi Model Machine Learning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429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 ·  Random Forest  ·  XGBoost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House Price Prediction V2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029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8686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06984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tujuan pemodelan prediksi harga rumah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444752"/>
            <a:ext cx="5029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365760" y="144475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4447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64592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Transformasi &amp; pembuatan fitur baru dari data mentah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020824"/>
            <a:ext cx="5029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365760" y="202082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02082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yang Digunakan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2219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Regression, Random Forest, dan XGBoost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596896"/>
            <a:ext cx="5029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365760" y="259689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59689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Hasil Evaluasi – Test Metrics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279806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RMSE, MAE, R2, dan MAPE di data test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172968"/>
            <a:ext cx="5029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365760" y="317296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1729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Hasil Evaluasi – Cross Validation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374136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stabilitas model via 5-Fold CV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749040"/>
            <a:ext cx="5029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Text 23"/>
          <p:cNvSpPr/>
          <p:nvPr/>
        </p:nvSpPr>
        <p:spPr>
          <a:xfrm>
            <a:off x="365760" y="37490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3749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vs CV – Insight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395020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Perbedaan perspektif &amp; interpretasi hasil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325112"/>
            <a:ext cx="5029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Text 27"/>
          <p:cNvSpPr/>
          <p:nvPr/>
        </p:nvSpPr>
        <p:spPr>
          <a:xfrm>
            <a:off x="365760" y="432511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43251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Rekomendasi &amp; Plus/Minus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" y="452628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Pilihan model terbaik beserta kelebihan &amp; kekurangan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931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3657600" cy="36576"/>
          </a:xfrm>
          <a:prstGeom prst="rect">
            <a:avLst/>
          </a:prstGeom>
          <a:solidFill>
            <a:srgbClr val="C8D6F8"/>
          </a:solidFill>
          <a:ln w="12700">
            <a:solidFill>
              <a:srgbClr val="C8D6F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20240" y="14630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House Prices (Ames, Iowa)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9019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Fitur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190195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kolom (numerik + kategorikal)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3408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234086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SalePrice (harga jual rumah)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77977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Transformasi Target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20240" y="277977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 untuk stabilisasi varians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2186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20240" y="321868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 (random_state=42)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6576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20240" y="36576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imputer + StandardScaler (num)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409651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imputer + OneHotEncoder (cat)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868680"/>
            <a:ext cx="4206240" cy="3931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470916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Tujuan Proyek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09160" y="1325880"/>
            <a:ext cx="384048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Shape 21"/>
          <p:cNvSpPr/>
          <p:nvPr/>
        </p:nvSpPr>
        <p:spPr>
          <a:xfrm>
            <a:off x="4754880" y="1581912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/>
          <p:nvPr/>
        </p:nvSpPr>
        <p:spPr>
          <a:xfrm>
            <a:off x="5120640" y="1508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model prediksi harga rumah yang akurat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2331720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5120640" y="225856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Membandingkan performa 3 algoritma: Linear Regression, Random Forest, dan XGBoost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3081528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Text 26"/>
          <p:cNvSpPr/>
          <p:nvPr/>
        </p:nvSpPr>
        <p:spPr>
          <a:xfrm>
            <a:off x="5120640" y="300837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Mengevaluasi model dari sisi akurasi (Test Metrics) dan stabilitas (Cross Validation)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831336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0" name="Text 28"/>
          <p:cNvSpPr/>
          <p:nvPr/>
        </p:nvSpPr>
        <p:spPr>
          <a:xfrm>
            <a:off x="5120640" y="375818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Memberikan rekomendasi model yang paling siap untuk production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2606040" cy="384048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457200" y="90525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TotalSF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44168"/>
            <a:ext cx="2423160" cy="347472"/>
          </a:xfrm>
          <a:prstGeom prst="rect">
            <a:avLst/>
          </a:prstGeom>
          <a:solidFill>
            <a:srgbClr val="C8D6F8"/>
          </a:solidFill>
          <a:ln w="12700">
            <a:solidFill>
              <a:srgbClr val="C8D6F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502920" y="1344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TotalBsmtSF + 1stFlrSF + 2ndFlrSF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764792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luas bangunan keseluruhan – faktor utama harga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86868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3200400" y="868680"/>
            <a:ext cx="2606040" cy="384048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3291840" y="90525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HouseAge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1344168"/>
            <a:ext cx="2423160" cy="347472"/>
          </a:xfrm>
          <a:prstGeom prst="rect">
            <a:avLst/>
          </a:prstGeom>
          <a:solidFill>
            <a:srgbClr val="C8D6F8"/>
          </a:solidFill>
          <a:ln w="12700">
            <a:solidFill>
              <a:srgbClr val="C8D6F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3337560" y="1344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YrSold − YearBuilt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91840" y="1764792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Usia rumah saat dijual – semakin tua, potensi harga lebih rendah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86868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7" name="Shape 15"/>
          <p:cNvSpPr/>
          <p:nvPr/>
        </p:nvSpPr>
        <p:spPr>
          <a:xfrm>
            <a:off x="6035040" y="868680"/>
            <a:ext cx="2606040" cy="384048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6126480" y="90525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RemodAge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1344168"/>
            <a:ext cx="2423160" cy="347472"/>
          </a:xfrm>
          <a:prstGeom prst="rect">
            <a:avLst/>
          </a:prstGeom>
          <a:solidFill>
            <a:srgbClr val="C8D6F8"/>
          </a:solidFill>
          <a:ln w="12700">
            <a:solidFill>
              <a:srgbClr val="C8D6F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6172200" y="1344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YrSold − YearRemodAdd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126480" y="1764792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sejak renovasi terakhir – rumah yang baru direnovasi bernilai lebih tinggi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783080" y="283464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3" name="Shape 21"/>
          <p:cNvSpPr/>
          <p:nvPr/>
        </p:nvSpPr>
        <p:spPr>
          <a:xfrm>
            <a:off x="1783080" y="2834640"/>
            <a:ext cx="2606040" cy="384048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/>
          <p:nvPr/>
        </p:nvSpPr>
        <p:spPr>
          <a:xfrm>
            <a:off x="1874520" y="287121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TotalBath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874520" y="3310128"/>
            <a:ext cx="2423160" cy="347472"/>
          </a:xfrm>
          <a:prstGeom prst="rect">
            <a:avLst/>
          </a:prstGeom>
          <a:solidFill>
            <a:srgbClr val="C8D6F8"/>
          </a:solidFill>
          <a:ln w="12700">
            <a:solidFill>
              <a:srgbClr val="C8D6F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1920240" y="33101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FullBath + 0.5×HalfBath + BsmtFullBath + 0.5×BsmtHalfBath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874520" y="3730752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Gabungan semua kamar mandi (full = 1, half = 0.5)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17720" y="283464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9" name="Shape 27"/>
          <p:cNvSpPr/>
          <p:nvPr/>
        </p:nvSpPr>
        <p:spPr>
          <a:xfrm>
            <a:off x="4617720" y="2834640"/>
            <a:ext cx="2606040" cy="384048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0" name="Text 28"/>
          <p:cNvSpPr/>
          <p:nvPr/>
        </p:nvSpPr>
        <p:spPr>
          <a:xfrm>
            <a:off x="4709160" y="287121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BedroomRatio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09160" y="3310128"/>
            <a:ext cx="2423160" cy="347472"/>
          </a:xfrm>
          <a:prstGeom prst="rect">
            <a:avLst/>
          </a:prstGeom>
          <a:solidFill>
            <a:srgbClr val="C8D6F8"/>
          </a:solidFill>
          <a:ln w="12700">
            <a:solidFill>
              <a:srgbClr val="C8D6F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2" name="Text 30"/>
          <p:cNvSpPr/>
          <p:nvPr/>
        </p:nvSpPr>
        <p:spPr>
          <a:xfrm>
            <a:off x="4754880" y="33101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BedroomAbvGr ÷ (TotRmsAbvGrd + 1)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09160" y="3730752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Proporsi kamar tidur terhadap total ruangan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fitur baru dibuat untuk memperkaya representasi properti dan meningkatkan akurasi prediksi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HASIL EVALUASI – TEST METRICS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dilakukan pada data test (20%) dalam skala harga asli (Rupiah/USD)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103120" cy="384048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356616" y="106984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1051560"/>
            <a:ext cx="1417320" cy="384048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2551176" y="1069848"/>
            <a:ext cx="1344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23360" y="1051560"/>
            <a:ext cx="1280160" cy="384048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4059936" y="106984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94960" y="1051560"/>
            <a:ext cx="914400" cy="384048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5431536" y="1069848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1051560"/>
            <a:ext cx="1188720" cy="384048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6437376" y="106984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(%)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680960" y="1051560"/>
            <a:ext cx="1143000" cy="384048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7717536" y="1069848"/>
            <a:ext cx="1069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Train/Test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1490472"/>
            <a:ext cx="2103120" cy="475488"/>
          </a:xfrm>
          <a:prstGeom prst="rect">
            <a:avLst/>
          </a:prstGeom>
          <a:solidFill>
            <a:srgbClr val="C8D6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Shape 16"/>
          <p:cNvSpPr/>
          <p:nvPr/>
        </p:nvSpPr>
        <p:spPr>
          <a:xfrm>
            <a:off x="2514600" y="1490472"/>
            <a:ext cx="1417320" cy="475488"/>
          </a:xfrm>
          <a:prstGeom prst="rect">
            <a:avLst/>
          </a:prstGeom>
          <a:solidFill>
            <a:srgbClr val="C8D6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Shape 17"/>
          <p:cNvSpPr/>
          <p:nvPr/>
        </p:nvSpPr>
        <p:spPr>
          <a:xfrm>
            <a:off x="4023360" y="1490472"/>
            <a:ext cx="1280160" cy="475488"/>
          </a:xfrm>
          <a:prstGeom prst="rect">
            <a:avLst/>
          </a:prstGeom>
          <a:solidFill>
            <a:srgbClr val="C8D6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Shape 18"/>
          <p:cNvSpPr/>
          <p:nvPr/>
        </p:nvSpPr>
        <p:spPr>
          <a:xfrm>
            <a:off x="5394960" y="1490472"/>
            <a:ext cx="914400" cy="475488"/>
          </a:xfrm>
          <a:prstGeom prst="rect">
            <a:avLst/>
          </a:prstGeom>
          <a:solidFill>
            <a:srgbClr val="C8D6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Shape 19"/>
          <p:cNvSpPr/>
          <p:nvPr/>
        </p:nvSpPr>
        <p:spPr>
          <a:xfrm>
            <a:off x="6400800" y="1490472"/>
            <a:ext cx="1188720" cy="475488"/>
          </a:xfrm>
          <a:prstGeom prst="rect">
            <a:avLst/>
          </a:prstGeom>
          <a:solidFill>
            <a:srgbClr val="C8D6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Shape 20"/>
          <p:cNvSpPr/>
          <p:nvPr/>
        </p:nvSpPr>
        <p:spPr>
          <a:xfrm>
            <a:off x="7680960" y="1490472"/>
            <a:ext cx="1143000" cy="475488"/>
          </a:xfrm>
          <a:prstGeom prst="rect">
            <a:avLst/>
          </a:prstGeom>
          <a:solidFill>
            <a:srgbClr val="C8D6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Text 21"/>
          <p:cNvSpPr/>
          <p:nvPr/>
        </p:nvSpPr>
        <p:spPr>
          <a:xfrm>
            <a:off x="374904" y="153619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69464" y="1536192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23,224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78224" y="1536192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15,104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49824" y="1536192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0.9297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55664" y="1536192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9.20%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35824" y="1536192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2.82% 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869680" y="1563624"/>
            <a:ext cx="457200" cy="320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0" name="Text 28"/>
          <p:cNvSpPr/>
          <p:nvPr/>
        </p:nvSpPr>
        <p:spPr>
          <a:xfrm>
            <a:off x="8878824" y="1563624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★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20040" y="2057400"/>
            <a:ext cx="2103120" cy="475488"/>
          </a:xfrm>
          <a:prstGeom prst="rect">
            <a:avLst/>
          </a:prstGeom>
          <a:solidFill>
            <a:srgbClr val="EFF4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2" name="Shape 30"/>
          <p:cNvSpPr/>
          <p:nvPr/>
        </p:nvSpPr>
        <p:spPr>
          <a:xfrm>
            <a:off x="2514600" y="2057400"/>
            <a:ext cx="1417320" cy="475488"/>
          </a:xfrm>
          <a:prstGeom prst="rect">
            <a:avLst/>
          </a:prstGeom>
          <a:solidFill>
            <a:srgbClr val="EFF4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3" name="Shape 31"/>
          <p:cNvSpPr/>
          <p:nvPr/>
        </p:nvSpPr>
        <p:spPr>
          <a:xfrm>
            <a:off x="4023360" y="2057400"/>
            <a:ext cx="1280160" cy="475488"/>
          </a:xfrm>
          <a:prstGeom prst="rect">
            <a:avLst/>
          </a:prstGeom>
          <a:solidFill>
            <a:srgbClr val="EFF4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4" name="Shape 32"/>
          <p:cNvSpPr/>
          <p:nvPr/>
        </p:nvSpPr>
        <p:spPr>
          <a:xfrm>
            <a:off x="5394960" y="2057400"/>
            <a:ext cx="914400" cy="475488"/>
          </a:xfrm>
          <a:prstGeom prst="rect">
            <a:avLst/>
          </a:prstGeom>
          <a:solidFill>
            <a:srgbClr val="EFF4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5" name="Shape 33"/>
          <p:cNvSpPr/>
          <p:nvPr/>
        </p:nvSpPr>
        <p:spPr>
          <a:xfrm>
            <a:off x="6400800" y="2057400"/>
            <a:ext cx="1188720" cy="475488"/>
          </a:xfrm>
          <a:prstGeom prst="rect">
            <a:avLst/>
          </a:prstGeom>
          <a:solidFill>
            <a:srgbClr val="EFF4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6" name="Shape 34"/>
          <p:cNvSpPr/>
          <p:nvPr/>
        </p:nvSpPr>
        <p:spPr>
          <a:xfrm>
            <a:off x="7680960" y="2057400"/>
            <a:ext cx="1143000" cy="475488"/>
          </a:xfrm>
          <a:prstGeom prst="rect">
            <a:avLst/>
          </a:prstGeom>
          <a:solidFill>
            <a:srgbClr val="EFF4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7" name="Text 35"/>
          <p:cNvSpPr/>
          <p:nvPr/>
        </p:nvSpPr>
        <p:spPr>
          <a:xfrm>
            <a:off x="374904" y="210312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(Tuned)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569464" y="2103120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27,185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078224" y="210312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15,822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49824" y="210312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0.9036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55664" y="210312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9.14%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735824" y="2103120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4.45%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20040" y="2624328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4" name="Shape 42"/>
          <p:cNvSpPr/>
          <p:nvPr/>
        </p:nvSpPr>
        <p:spPr>
          <a:xfrm>
            <a:off x="2514600" y="2624328"/>
            <a:ext cx="1417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5" name="Shape 43"/>
          <p:cNvSpPr/>
          <p:nvPr/>
        </p:nvSpPr>
        <p:spPr>
          <a:xfrm>
            <a:off x="4023360" y="2624328"/>
            <a:ext cx="1280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6" name="Shape 44"/>
          <p:cNvSpPr/>
          <p:nvPr/>
        </p:nvSpPr>
        <p:spPr>
          <a:xfrm>
            <a:off x="5394960" y="2624328"/>
            <a:ext cx="914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7" name="Shape 45"/>
          <p:cNvSpPr/>
          <p:nvPr/>
        </p:nvSpPr>
        <p:spPr>
          <a:xfrm>
            <a:off x="6400800" y="2624328"/>
            <a:ext cx="1188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8" name="Shape 46"/>
          <p:cNvSpPr/>
          <p:nvPr/>
        </p:nvSpPr>
        <p:spPr>
          <a:xfrm>
            <a:off x="7680960" y="2624328"/>
            <a:ext cx="1143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9" name="Text 47"/>
          <p:cNvSpPr/>
          <p:nvPr/>
        </p:nvSpPr>
        <p:spPr>
          <a:xfrm>
            <a:off x="374904" y="267004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(Tuned)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569464" y="2670048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30,524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078224" y="2670048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17,306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449824" y="2670048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0.8785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455664" y="267004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10.12%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735824" y="2670048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6.61% ✗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20040" y="3794760"/>
            <a:ext cx="850392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6" name="Text 54"/>
          <p:cNvSpPr/>
          <p:nvPr/>
        </p:nvSpPr>
        <p:spPr>
          <a:xfrm>
            <a:off x="502920" y="3858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Key Insight: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02920" y="41605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r>
              <a:rPr lang="en-US" sz="105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unggul di semua Test Metrics — RMSE terendah (23,224), R² tertinggi (0.9297), dan gap train/test paling kecil (2.82%). Secara test, model ini paling akurat dan konsisten. </a:t>
            </a: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05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menempati posisi kedua, sementara </a:t>
            </a: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r>
              <a:rPr lang="en-US" sz="105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menunjukkan tanda overfitting dengan gap tertinggi (6.61%).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HASIL EVALUASI – CROSS VALIDATION (5-Fold)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RMSE dihitung dalam skala log-transformed target — semakin kecil semakin baik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269748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411480" y="10972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RANK 1st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6002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XGBoost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" y="19659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(Tuned)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2423160" cy="640080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RMSE Mean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24871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0.1269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57200" y="2999232"/>
            <a:ext cx="2423160" cy="457200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502920" y="30175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RMSE Std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32004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0.0122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" y="354787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RMSE terbaik &amp; std sangat kecil → generalisasi paling konsisten di CV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64408" y="1078992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8" name="Shape 16"/>
          <p:cNvSpPr/>
          <p:nvPr/>
        </p:nvSpPr>
        <p:spPr>
          <a:xfrm>
            <a:off x="3264408" y="1078992"/>
            <a:ext cx="2697480" cy="4572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3355848" y="10972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RANK 2nd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64408" y="16002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264408" y="19659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(Tuned)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01568" y="2286000"/>
            <a:ext cx="2423160" cy="640080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Text 21"/>
          <p:cNvSpPr/>
          <p:nvPr/>
        </p:nvSpPr>
        <p:spPr>
          <a:xfrm>
            <a:off x="3447288" y="230428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RMSE Mean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47288" y="24871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39C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0.1417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3401568" y="2999232"/>
            <a:ext cx="2423160" cy="457200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3447288" y="30175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RMSE Std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47288" y="32004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0.0190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74136" y="354787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RMSE menengah, std lebih tinggi → kurang stabil antar fold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08776" y="1078992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0" name="Shape 28"/>
          <p:cNvSpPr/>
          <p:nvPr/>
        </p:nvSpPr>
        <p:spPr>
          <a:xfrm>
            <a:off x="6208776" y="1078992"/>
            <a:ext cx="2697480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1" name="Text 29"/>
          <p:cNvSpPr/>
          <p:nvPr/>
        </p:nvSpPr>
        <p:spPr>
          <a:xfrm>
            <a:off x="6300216" y="10972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RANK 3rd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08776" y="16002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 Regression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208776" y="19659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(Baseline)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45936" y="2286000"/>
            <a:ext cx="2423160" cy="640080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5" name="Text 33"/>
          <p:cNvSpPr/>
          <p:nvPr/>
        </p:nvSpPr>
        <p:spPr>
          <a:xfrm>
            <a:off x="6391656" y="230428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RMSE Mean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391656" y="24871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0.1589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6345936" y="2999232"/>
            <a:ext cx="2423160" cy="457200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8" name="Text 36"/>
          <p:cNvSpPr/>
          <p:nvPr/>
        </p:nvSpPr>
        <p:spPr>
          <a:xfrm>
            <a:off x="6391656" y="30175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RMSE Std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391656" y="32004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0.0119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318504" y="354787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RMSE tertinggi, meski std kecil → kurang mampu menangkap pola non-linear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4407408"/>
            <a:ext cx="8503920" cy="530352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2" name="Text 40"/>
          <p:cNvSpPr/>
          <p:nvPr/>
        </p:nvSpPr>
        <p:spPr>
          <a:xfrm>
            <a:off x="502920" y="444398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Dari perspektif CV: XGBoost unggul sebagai model paling generalisasi baik. Namun CV menggunakan skala log, bukan harga asli — perlu diinterpretasi bersamaan dengan Test Metrics.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METRICS vs CROSS VALIDATION – PERBANDINGAN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2194560" cy="475488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347472" y="841248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78608" y="841248"/>
            <a:ext cx="1371600" cy="475488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2606040" y="841248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005072" y="841248"/>
            <a:ext cx="1005840" cy="475488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4032504" y="841248"/>
            <a:ext cx="950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(test)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65776" y="841248"/>
            <a:ext cx="1417320" cy="475488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5093208" y="841248"/>
            <a:ext cx="1362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RMSE Mean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 scale)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37960" y="841248"/>
            <a:ext cx="1051560" cy="475488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6565392" y="841248"/>
            <a:ext cx="996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RMSE Std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644384" y="841248"/>
            <a:ext cx="1179576" cy="475488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7671816" y="841248"/>
            <a:ext cx="1124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Test / CV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1371600"/>
            <a:ext cx="2194560" cy="402336"/>
          </a:xfrm>
          <a:prstGeom prst="rect">
            <a:avLst/>
          </a:prstGeom>
          <a:solidFill>
            <a:srgbClr val="C8D6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Shape 15"/>
          <p:cNvSpPr/>
          <p:nvPr/>
        </p:nvSpPr>
        <p:spPr>
          <a:xfrm>
            <a:off x="2578608" y="1371600"/>
            <a:ext cx="1371600" cy="402336"/>
          </a:xfrm>
          <a:prstGeom prst="rect">
            <a:avLst/>
          </a:prstGeom>
          <a:solidFill>
            <a:srgbClr val="C8D6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Shape 16"/>
          <p:cNvSpPr/>
          <p:nvPr/>
        </p:nvSpPr>
        <p:spPr>
          <a:xfrm>
            <a:off x="4005072" y="1371600"/>
            <a:ext cx="1005840" cy="402336"/>
          </a:xfrm>
          <a:prstGeom prst="rect">
            <a:avLst/>
          </a:prstGeom>
          <a:solidFill>
            <a:srgbClr val="C8D6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Shape 17"/>
          <p:cNvSpPr/>
          <p:nvPr/>
        </p:nvSpPr>
        <p:spPr>
          <a:xfrm>
            <a:off x="5065776" y="1371600"/>
            <a:ext cx="1417320" cy="402336"/>
          </a:xfrm>
          <a:prstGeom prst="rect">
            <a:avLst/>
          </a:prstGeom>
          <a:solidFill>
            <a:srgbClr val="C8D6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Shape 18"/>
          <p:cNvSpPr/>
          <p:nvPr/>
        </p:nvSpPr>
        <p:spPr>
          <a:xfrm>
            <a:off x="6537960" y="1371600"/>
            <a:ext cx="1051560" cy="402336"/>
          </a:xfrm>
          <a:prstGeom prst="rect">
            <a:avLst/>
          </a:prstGeom>
          <a:solidFill>
            <a:srgbClr val="C8D6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Shape 19"/>
          <p:cNvSpPr/>
          <p:nvPr/>
        </p:nvSpPr>
        <p:spPr>
          <a:xfrm>
            <a:off x="7644384" y="1371600"/>
            <a:ext cx="1179576" cy="402336"/>
          </a:xfrm>
          <a:prstGeom prst="rect">
            <a:avLst/>
          </a:prstGeom>
          <a:solidFill>
            <a:srgbClr val="C8D6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Text 20"/>
          <p:cNvSpPr/>
          <p:nvPr/>
        </p:nvSpPr>
        <p:spPr>
          <a:xfrm>
            <a:off x="356616" y="1389888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615184" y="138988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23,224 ★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041648" y="1389888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0.9297 ★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02352" y="1389888"/>
            <a:ext cx="134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0.1589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74536" y="1389888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0.0119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680960" y="1389888"/>
            <a:ext cx="110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Test / #3 CV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1847088"/>
            <a:ext cx="2194560" cy="402336"/>
          </a:xfrm>
          <a:prstGeom prst="rect">
            <a:avLst/>
          </a:prstGeom>
          <a:solidFill>
            <a:srgbClr val="EFF4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Shape 27"/>
          <p:cNvSpPr/>
          <p:nvPr/>
        </p:nvSpPr>
        <p:spPr>
          <a:xfrm>
            <a:off x="2578608" y="1847088"/>
            <a:ext cx="1371600" cy="402336"/>
          </a:xfrm>
          <a:prstGeom prst="rect">
            <a:avLst/>
          </a:prstGeom>
          <a:solidFill>
            <a:srgbClr val="EFF4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0" name="Shape 28"/>
          <p:cNvSpPr/>
          <p:nvPr/>
        </p:nvSpPr>
        <p:spPr>
          <a:xfrm>
            <a:off x="4005072" y="1847088"/>
            <a:ext cx="1005840" cy="402336"/>
          </a:xfrm>
          <a:prstGeom prst="rect">
            <a:avLst/>
          </a:prstGeom>
          <a:solidFill>
            <a:srgbClr val="EFF4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1" name="Shape 29"/>
          <p:cNvSpPr/>
          <p:nvPr/>
        </p:nvSpPr>
        <p:spPr>
          <a:xfrm>
            <a:off x="5065776" y="1847088"/>
            <a:ext cx="1417320" cy="402336"/>
          </a:xfrm>
          <a:prstGeom prst="rect">
            <a:avLst/>
          </a:prstGeom>
          <a:solidFill>
            <a:srgbClr val="EFF4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2" name="Shape 30"/>
          <p:cNvSpPr/>
          <p:nvPr/>
        </p:nvSpPr>
        <p:spPr>
          <a:xfrm>
            <a:off x="6537960" y="1847088"/>
            <a:ext cx="1051560" cy="402336"/>
          </a:xfrm>
          <a:prstGeom prst="rect">
            <a:avLst/>
          </a:prstGeom>
          <a:solidFill>
            <a:srgbClr val="EFF4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3" name="Shape 31"/>
          <p:cNvSpPr/>
          <p:nvPr/>
        </p:nvSpPr>
        <p:spPr>
          <a:xfrm>
            <a:off x="7644384" y="1847088"/>
            <a:ext cx="1179576" cy="402336"/>
          </a:xfrm>
          <a:prstGeom prst="rect">
            <a:avLst/>
          </a:prstGeom>
          <a:solidFill>
            <a:srgbClr val="EFF4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4" name="Text 32"/>
          <p:cNvSpPr/>
          <p:nvPr/>
        </p:nvSpPr>
        <p:spPr>
          <a:xfrm>
            <a:off x="356616" y="1865376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(Tuned)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615184" y="1865376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27,185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041648" y="1865376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0.9036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02352" y="1865376"/>
            <a:ext cx="134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0.1269 ★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74536" y="1865376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0.0122 ★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680960" y="1865376"/>
            <a:ext cx="110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Test / #1 CV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2322576"/>
            <a:ext cx="21945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1" name="Shape 39"/>
          <p:cNvSpPr/>
          <p:nvPr/>
        </p:nvSpPr>
        <p:spPr>
          <a:xfrm>
            <a:off x="2578608" y="2322576"/>
            <a:ext cx="1371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2" name="Shape 40"/>
          <p:cNvSpPr/>
          <p:nvPr/>
        </p:nvSpPr>
        <p:spPr>
          <a:xfrm>
            <a:off x="4005072" y="2322576"/>
            <a:ext cx="1005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3" name="Shape 41"/>
          <p:cNvSpPr/>
          <p:nvPr/>
        </p:nvSpPr>
        <p:spPr>
          <a:xfrm>
            <a:off x="5065776" y="2322576"/>
            <a:ext cx="1417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4" name="Shape 42"/>
          <p:cNvSpPr/>
          <p:nvPr/>
        </p:nvSpPr>
        <p:spPr>
          <a:xfrm>
            <a:off x="6537960" y="2322576"/>
            <a:ext cx="10515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5" name="Shape 43"/>
          <p:cNvSpPr/>
          <p:nvPr/>
        </p:nvSpPr>
        <p:spPr>
          <a:xfrm>
            <a:off x="7644384" y="2322576"/>
            <a:ext cx="117957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6" name="Text 44"/>
          <p:cNvSpPr/>
          <p:nvPr/>
        </p:nvSpPr>
        <p:spPr>
          <a:xfrm>
            <a:off x="356616" y="2340864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(Tuned)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615184" y="2340864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30,524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041648" y="2340864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0.8785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102352" y="2340864"/>
            <a:ext cx="134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0.1417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574536" y="2340864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0.0190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680960" y="2340864"/>
            <a:ext cx="110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Test / #2 CV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20040" y="2798064"/>
            <a:ext cx="2697480" cy="2103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3" name="Text 51"/>
          <p:cNvSpPr/>
          <p:nvPr/>
        </p:nvSpPr>
        <p:spPr>
          <a:xfrm>
            <a:off x="411480" y="287121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Mengapa hasilnya berbeda?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29768" y="3273552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CV menggunakan skala log-transformed (log1p), bukan harga asli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29768" y="3666744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Test Metrics dikonversi kembali ke harga asli (expm1)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29768" y="4059936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XGBoost lebih baik dalam log scale, LR lebih baik di harga asli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29768" y="4453128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Ini bukan kontradiksi — keduanya mengukur aspek berbeda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264408" y="2798064"/>
            <a:ext cx="2697480" cy="2103120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9" name="Text 57"/>
          <p:cNvSpPr/>
          <p:nvPr/>
        </p:nvSpPr>
        <p:spPr>
          <a:xfrm>
            <a:off x="3355848" y="287121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Kapan pakai CV?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374136" y="3273552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CV cocok untuk seleksi model secara statistik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374136" y="3666744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Memberikan gambaran generalisasi di data baru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374136" y="4059936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Berguna saat dataset kecil (mengurangi ketergantungan split)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374136" y="4453128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Representasi lebih robust karena menggunakan semua data train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208776" y="2798064"/>
            <a:ext cx="2697480" cy="2103120"/>
          </a:xfrm>
          <a:prstGeom prst="rect">
            <a:avLst/>
          </a:prstGeom>
          <a:solidFill>
            <a:srgbClr val="2C4A8A"/>
          </a:solidFill>
          <a:ln w="12700">
            <a:solidFill>
              <a:srgbClr val="2C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5" name="Text 63"/>
          <p:cNvSpPr/>
          <p:nvPr/>
        </p:nvSpPr>
        <p:spPr>
          <a:xfrm>
            <a:off x="6300216" y="287121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Kapan pakai Test Metrics?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318504" y="3273552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Test Metrics mencerminkan performa pada harga nyata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318504" y="3666744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Lebih relevan untuk business use case (budget, valuasi)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318504" y="4059936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Mudah diinterpretasi oleh stakeholder non-teknis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318504" y="4453128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Menjadi dasar final recommendation ke klien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REKOMENDASI MODEL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8503920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502920" y="87782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 REKOMENDASI UTAMA: Linear Regression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225296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Terbaik untuk produksi — akurasi tertinggi di data test nyata (RMSE 23,224 | R² 0.93 | Gap hanya 2.82%) dengan interpretabilitas tinggi untuk bisnis properti.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965960"/>
            <a:ext cx="8503920" cy="8229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502920" y="200253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🥈  ALTERNATIF: XGBoost (Tuned)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32257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Terbaik dalam CV (RMSE log 0.1269) dan sudah cukup stabil (gap 4.45%). Cocok jika data bertambah atau pola menjadi lebih kompleks.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8529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Perbandingan Plus &amp; Minus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3182112"/>
            <a:ext cx="269748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393192" y="32004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3483864"/>
            <a:ext cx="2697480" cy="182880"/>
          </a:xfrm>
          <a:prstGeom prst="rect">
            <a:avLst/>
          </a:prstGeom>
          <a:solidFill>
            <a:srgbClr val="E8F8E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393192" y="349300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KELEBIHAN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93192" y="368503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RMSE &amp; R² terbaik di test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93192" y="3886200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Paling stabil (gap 2.82%)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93192" y="408736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Mudah diinterpretasi klien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93192" y="428853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Inference cepat &amp; ringan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0040" y="4498848"/>
            <a:ext cx="2697480" cy="182880"/>
          </a:xfrm>
          <a:prstGeom prst="rect">
            <a:avLst/>
          </a:prstGeom>
          <a:solidFill>
            <a:srgbClr val="FEF0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393192" y="45079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KEKURANGAN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93192" y="470001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Asumsi linearitas bisa dilanggar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93192" y="4901184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Kurang fleksibel untuk pola kompleks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93192" y="510235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CV RMSE paling rendah di ranking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264408" y="3182112"/>
            <a:ext cx="2697480" cy="2743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Text 23"/>
          <p:cNvSpPr/>
          <p:nvPr/>
        </p:nvSpPr>
        <p:spPr>
          <a:xfrm>
            <a:off x="3337560" y="32004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(Tuned)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64408" y="3483864"/>
            <a:ext cx="2697480" cy="182880"/>
          </a:xfrm>
          <a:prstGeom prst="rect">
            <a:avLst/>
          </a:prstGeom>
          <a:solidFill>
            <a:srgbClr val="E8F8E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Text 25"/>
          <p:cNvSpPr/>
          <p:nvPr/>
        </p:nvSpPr>
        <p:spPr>
          <a:xfrm>
            <a:off x="3337560" y="349300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KELEBIHAN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337560" y="368503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CV RMSE terbaik (generalisasi kuat)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337560" y="3886200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Mampu tangkap pola non-linear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337560" y="408736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Setelah tuning, gap turun → 4.45%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264408" y="4297680"/>
            <a:ext cx="2697480" cy="182880"/>
          </a:xfrm>
          <a:prstGeom prst="rect">
            <a:avLst/>
          </a:prstGeom>
          <a:solidFill>
            <a:srgbClr val="FEF0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2" name="Text 30"/>
          <p:cNvSpPr/>
          <p:nvPr/>
        </p:nvSpPr>
        <p:spPr>
          <a:xfrm>
            <a:off x="3337560" y="430682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KEKURANGAN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337560" y="449884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Test RMSE lebih tinggi dari LR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337560" y="470001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Lebih lambat saat inference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337560" y="4901184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Risiko overfitting jika tidak dimonitor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208776" y="3182112"/>
            <a:ext cx="2697480" cy="274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7" name="Text 35"/>
          <p:cNvSpPr/>
          <p:nvPr/>
        </p:nvSpPr>
        <p:spPr>
          <a:xfrm>
            <a:off x="6281928" y="32004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(Tuned)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08776" y="3483864"/>
            <a:ext cx="2697480" cy="182880"/>
          </a:xfrm>
          <a:prstGeom prst="rect">
            <a:avLst/>
          </a:prstGeom>
          <a:solidFill>
            <a:srgbClr val="E8F8E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9" name="Text 37"/>
          <p:cNvSpPr/>
          <p:nvPr/>
        </p:nvSpPr>
        <p:spPr>
          <a:xfrm>
            <a:off x="6281928" y="349300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KELEBIHAN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281928" y="368503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Robust terhadap outlier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281928" y="3886200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Tidak perlu normalisasi fitur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208776" y="4096512"/>
            <a:ext cx="2697480" cy="182880"/>
          </a:xfrm>
          <a:prstGeom prst="rect">
            <a:avLst/>
          </a:prstGeom>
          <a:solidFill>
            <a:srgbClr val="FEF0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3" name="Text 41"/>
          <p:cNvSpPr/>
          <p:nvPr/>
        </p:nvSpPr>
        <p:spPr>
          <a:xfrm>
            <a:off x="6281928" y="410565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KEKURANGAN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281928" y="4297680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Test RMSE tertinggi (30,524)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281928" y="449884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Overfitting gap besar (6.61%)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281928" y="470001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CV std paling tinggi (0.019)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281928" y="4901184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Tidak direkomendasikan produksi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029200" cy="5029200"/>
          </a:xfrm>
          <a:prstGeom prst="ellipse">
            <a:avLst/>
          </a:prstGeom>
          <a:solidFill>
            <a:srgbClr val="2A3B8F">
              <a:alpha val="50000"/>
            </a:srgbClr>
          </a:solidFill>
          <a:ln w="12700">
            <a:solidFill>
              <a:srgbClr val="2A3B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-1371600" y="2926080"/>
            <a:ext cx="2743200" cy="2743200"/>
          </a:xfrm>
          <a:prstGeom prst="ellipse">
            <a:avLst/>
          </a:prstGeom>
          <a:solidFill>
            <a:srgbClr val="2A3B8F">
              <a:alpha val="50000"/>
            </a:srgbClr>
          </a:solidFill>
          <a:ln w="12700">
            <a:solidFill>
              <a:srgbClr val="2A3B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73152" cy="2560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KESIMPULAN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Linear Regression:  </a:t>
            </a:r>
            <a:r>
              <a:rPr lang="en-US" sz="115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direkomendasikan untuk produksi — RMSE terbaik, R² 0.93, dan paling stabil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231343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XGBoost (Tuned):  </a:t>
            </a:r>
            <a:r>
              <a:rPr lang="en-US" sz="115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sebagai alternatif kuat — CV terbaik &amp; cocok untuk dataset yang berkembang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843784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Random Forest:  </a:t>
            </a:r>
            <a:r>
              <a:rPr lang="en-US" sz="115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direkomendasikan saat ini — overfitting perlu ditangani lebih lanjut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3374136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Evaluasi Lanjutan:  </a:t>
            </a:r>
            <a:r>
              <a:rPr lang="en-US" sz="1150" dirty="0">
                <a:solidFill>
                  <a:srgbClr val="C8D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mempertimbangkan data lebih besar, feature selection, &amp; monitoring drift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  ·  House Price Prediction V2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1076</Words>
  <Application>Microsoft Office PowerPoint</Application>
  <PresentationFormat>On-screen Show (16:9)</PresentationFormat>
  <Paragraphs>210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 Price Prediction - Model Comparison</dc:title>
  <dc:subject>PptxGenJS Presentation</dc:subject>
  <dc:creator>PptxGenJS</dc:creator>
  <cp:lastModifiedBy>Alfa Robi</cp:lastModifiedBy>
  <cp:revision>1</cp:revision>
  <dcterms:created xsi:type="dcterms:W3CDTF">2026-04-30T04:27:03Z</dcterms:created>
  <dcterms:modified xsi:type="dcterms:W3CDTF">2026-04-30T06:09:14Z</dcterms:modified>
</cp:coreProperties>
</file>